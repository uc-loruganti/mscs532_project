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70" r:id="rId9"/>
    <p:sldId id="262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Merriweather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88"/>
    <a:srgbClr val="F3F0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13685398-5D18-689F-1AB2-A6F2BA55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>
            <a:extLst>
              <a:ext uri="{FF2B5EF4-FFF2-40B4-BE49-F238E27FC236}">
                <a16:creationId xmlns:a16="http://schemas.microsoft.com/office/drawing/2014/main" id="{16DBB9C6-F923-2BC7-F319-E8EF7F98A7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>
            <a:extLst>
              <a:ext uri="{FF2B5EF4-FFF2-40B4-BE49-F238E27FC236}">
                <a16:creationId xmlns:a16="http://schemas.microsoft.com/office/drawing/2014/main" id="{5D646A6F-4D5A-F980-CF7D-289E6AD62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2032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DEB6C869-362B-3793-2A35-9610BBE0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>
            <a:extLst>
              <a:ext uri="{FF2B5EF4-FFF2-40B4-BE49-F238E27FC236}">
                <a16:creationId xmlns:a16="http://schemas.microsoft.com/office/drawing/2014/main" id="{99CB6CE6-3D1C-74E2-8B94-42B77A269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>
            <a:extLst>
              <a:ext uri="{FF2B5EF4-FFF2-40B4-BE49-F238E27FC236}">
                <a16:creationId xmlns:a16="http://schemas.microsoft.com/office/drawing/2014/main" id="{F438E902-BECC-871B-4577-768FA50C4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9437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Google Shape;84;p13"/>
          <p:cNvSpPr txBox="1"/>
          <p:nvPr/>
        </p:nvSpPr>
        <p:spPr>
          <a:xfrm>
            <a:off x="2187363" y="1671569"/>
            <a:ext cx="5801917" cy="22287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Merriweather"/>
              </a:rPr>
              <a:t>Dynamic Inventory Management System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1" name="Graphic 90" descr="Database">
            <a:extLst>
              <a:ext uri="{FF2B5EF4-FFF2-40B4-BE49-F238E27FC236}">
                <a16:creationId xmlns:a16="http://schemas.microsoft.com/office/drawing/2014/main" id="{D83C2890-9986-5E86-7DD2-AD6B2C088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87" name="Google Shape;87;p13"/>
          <p:cNvSpPr txBox="1"/>
          <p:nvPr/>
        </p:nvSpPr>
        <p:spPr>
          <a:xfrm>
            <a:off x="2187364" y="4072044"/>
            <a:ext cx="5801917" cy="205704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DM Sans"/>
              </a:rPr>
              <a:t>Laxmi Kanth Oruganti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University of the Cumberlands</a:t>
            </a:r>
            <a:r>
              <a:rPr lang="en-US" sz="2000" b="1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DM Sans"/>
              </a:rPr>
              <a:t> </a:t>
            </a:r>
          </a:p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00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DM Sans"/>
              </a:rPr>
              <a:t>MSCS 532 :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Algorithms and Data Structures</a:t>
            </a:r>
          </a:p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Prof. Brandon Bass</a:t>
            </a:r>
          </a:p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11/30/2025</a:t>
            </a:r>
          </a:p>
        </p:txBody>
      </p:sp>
      <p:pic>
        <p:nvPicPr>
          <p:cNvPr id="93" name="Graphic 92" descr="Database">
            <a:extLst>
              <a:ext uri="{FF2B5EF4-FFF2-40B4-BE49-F238E27FC236}">
                <a16:creationId xmlns:a16="http://schemas.microsoft.com/office/drawing/2014/main" id="{596F3030-19EB-4ECD-8CBB-FF3BD21CD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2236440"/>
            <a:ext cx="4953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Resolve Computational Conflict: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Build a solution that bridges the gap between instantaneous O(1) transactional speed and flexible O(n) search requirements.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741390"/>
            <a:ext cx="5010150" cy="110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Hybrid Architecture Validation: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Design and implement a composite system leveraging Hash Tables, Category Indexes, and Tries within a single memory space.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4941540"/>
            <a:ext cx="50101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Performance Optimization: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Achieve sub-millisecond query latency for interactive autocomplete or search functionality on large-scale datasets.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45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77949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97964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95312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0"/>
            <a:ext cx="59531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5050631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262955"/>
            <a:ext cx="4810125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72505"/>
            <a:ext cx="5050631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Point of Sale Demands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171551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Modern retail environments face a computational conflict between transactional speed and predictive discovery.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810375" y="1916459"/>
            <a:ext cx="505063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Critical Bottlenecks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7096125" y="237931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Transactional Speed: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Checkout counters require instantaneous (O(1)) product lookups by SKU.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7096125" y="3131790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Predictive Discovery: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Staff and customers expect real-time search and autocomplete functionality.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096125" y="4189065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Scale: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Traditional single-data structures cannot perform efficiently at scale.</a:t>
            </a:r>
            <a:endParaRPr dirty="0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0375" y="241741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0375" y="316989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0375" y="422716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14550"/>
            <a:ext cx="3492549" cy="4006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14550"/>
            <a:ext cx="3492549" cy="4006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114550"/>
            <a:ext cx="3492549" cy="400615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Architecture: A Hybrid Approach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84223" y="3086100"/>
            <a:ext cx="306710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Hash Table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57250" y="373945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Role: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Primary Data Store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7250" y="442525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Provides O(1) constant time access for direct SKU lookups, ensuring zero latency at the checkout counter.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562523" y="3086100"/>
            <a:ext cx="306710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Category Index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35549" y="373945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Role: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Browsing Engine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35549" y="442525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Maps category names to sets of SKUs. Enables O(1) set retrieval for efficient catalog filtering.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340822" y="3086100"/>
            <a:ext cx="306710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Prefix Trie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13849" y="373945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Role: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Predictive Search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413849" y="442525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Optimized for autocomplete. Retrieval time is proportional to key length O(m), independent of dataset size.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51012" y="24479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0" y="2447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59987" y="2447925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762000" y="762000"/>
            <a:ext cx="4800600" cy="11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Implementation: The Facade Pattern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62000" y="2002035"/>
            <a:ext cx="4572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2248991"/>
            <a:ext cx="45720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 manage the complexity of three synchronized data structures, the system employs the 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Facade Pattern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via the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InventoryManager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class.</a:t>
            </a:r>
            <a:endParaRPr dirty="0"/>
          </a:p>
        </p:txBody>
      </p:sp>
      <p:pic>
        <p:nvPicPr>
          <p:cNvPr id="2" name="Google Shape;108;p15" descr="image.png">
            <a:extLst>
              <a:ext uri="{FF2B5EF4-FFF2-40B4-BE49-F238E27FC236}">
                <a16:creationId xmlns:a16="http://schemas.microsoft.com/office/drawing/2014/main" id="{A4690154-4E9C-E74F-F38C-A209186C4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0"/>
            <a:ext cx="59531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5">
            <a:extLst>
              <a:ext uri="{FF2B5EF4-FFF2-40B4-BE49-F238E27FC236}">
                <a16:creationId xmlns:a16="http://schemas.microsoft.com/office/drawing/2014/main" id="{7E21CC42-A8CE-F24C-98CE-0F425D2F94AD}"/>
              </a:ext>
            </a:extLst>
          </p:cNvPr>
          <p:cNvSpPr txBox="1"/>
          <p:nvPr/>
        </p:nvSpPr>
        <p:spPr>
          <a:xfrm>
            <a:off x="6810375" y="1916459"/>
            <a:ext cx="51212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400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Key Responsibilities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Google Shape;116;p15">
            <a:extLst>
              <a:ext uri="{FF2B5EF4-FFF2-40B4-BE49-F238E27FC236}">
                <a16:creationId xmlns:a16="http://schemas.microsoft.com/office/drawing/2014/main" id="{5B914881-BC70-BFBD-822C-0EA16CBF5DC2}"/>
              </a:ext>
            </a:extLst>
          </p:cNvPr>
          <p:cNvSpPr txBox="1"/>
          <p:nvPr/>
        </p:nvSpPr>
        <p:spPr>
          <a:xfrm>
            <a:off x="7096126" y="2379315"/>
            <a:ext cx="458765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Atomic Updates:</a:t>
            </a:r>
            <a:r>
              <a:rPr lang="en-US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Ensures a single "Add Product" call updates the Hash Table, Index, and Trie simultaneously.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17;p15">
            <a:extLst>
              <a:ext uri="{FF2B5EF4-FFF2-40B4-BE49-F238E27FC236}">
                <a16:creationId xmlns:a16="http://schemas.microsoft.com/office/drawing/2014/main" id="{45AD8A53-5469-BC89-C5EA-A0E7442C68E2}"/>
              </a:ext>
            </a:extLst>
          </p:cNvPr>
          <p:cNvSpPr txBox="1"/>
          <p:nvPr/>
        </p:nvSpPr>
        <p:spPr>
          <a:xfrm>
            <a:off x="7096126" y="3284190"/>
            <a:ext cx="458765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Consistency:</a:t>
            </a:r>
            <a:r>
              <a:rPr lang="en-US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Prevents "phantom reads" where items exist in inventory but are missing from search.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Google Shape;118;p15">
            <a:extLst>
              <a:ext uri="{FF2B5EF4-FFF2-40B4-BE49-F238E27FC236}">
                <a16:creationId xmlns:a16="http://schemas.microsoft.com/office/drawing/2014/main" id="{E265187A-00C1-AF5A-E282-5740373586E9}"/>
              </a:ext>
            </a:extLst>
          </p:cNvPr>
          <p:cNvSpPr txBox="1"/>
          <p:nvPr/>
        </p:nvSpPr>
        <p:spPr>
          <a:xfrm>
            <a:off x="7096126" y="4189065"/>
            <a:ext cx="458765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Abstraction:</a:t>
            </a:r>
            <a:r>
              <a:rPr lang="en-US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Clients interact with a simple API, hiding the underlying architectural complexity.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Google Shape;119;p15" descr="image.png">
            <a:extLst>
              <a:ext uri="{FF2B5EF4-FFF2-40B4-BE49-F238E27FC236}">
                <a16:creationId xmlns:a16="http://schemas.microsoft.com/office/drawing/2014/main" id="{383AEE68-6E0E-28F3-BB37-FBE14A9E28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375" y="253806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0;p15" descr="image.png">
            <a:extLst>
              <a:ext uri="{FF2B5EF4-FFF2-40B4-BE49-F238E27FC236}">
                <a16:creationId xmlns:a16="http://schemas.microsoft.com/office/drawing/2014/main" id="{BCC47F19-96FC-78B3-DD93-8E37A1CC23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375" y="338579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1;p15" descr="image.png">
            <a:extLst>
              <a:ext uri="{FF2B5EF4-FFF2-40B4-BE49-F238E27FC236}">
                <a16:creationId xmlns:a16="http://schemas.microsoft.com/office/drawing/2014/main" id="{E60929E5-A572-89C8-C6B2-CFF08DFE0E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375" y="434781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54E7BC-8B7D-5C89-C995-724EED061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3562100"/>
            <a:ext cx="5241926" cy="22958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3DE889D2-A222-9E43-F90D-B5C3D40F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8F942DE7-04A1-FD18-0A47-EEF1FAD56DD6}"/>
              </a:ext>
            </a:extLst>
          </p:cNvPr>
          <p:cNvSpPr txBox="1"/>
          <p:nvPr/>
        </p:nvSpPr>
        <p:spPr>
          <a:xfrm>
            <a:off x="762000" y="762000"/>
            <a:ext cx="48006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operations</a:t>
            </a:r>
            <a:endParaRPr dirty="0"/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72EBF2EB-2673-BF79-7191-C9FB4ADD325A}"/>
              </a:ext>
            </a:extLst>
          </p:cNvPr>
          <p:cNvSpPr/>
          <p:nvPr/>
        </p:nvSpPr>
        <p:spPr>
          <a:xfrm>
            <a:off x="762000" y="1468635"/>
            <a:ext cx="4572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6;p15">
            <a:extLst>
              <a:ext uri="{FF2B5EF4-FFF2-40B4-BE49-F238E27FC236}">
                <a16:creationId xmlns:a16="http://schemas.microsoft.com/office/drawing/2014/main" id="{D28FAA0D-E2AA-81DC-6269-EDE055BA2AC1}"/>
              </a:ext>
            </a:extLst>
          </p:cNvPr>
          <p:cNvSpPr txBox="1"/>
          <p:nvPr/>
        </p:nvSpPr>
        <p:spPr>
          <a:xfrm>
            <a:off x="993776" y="1737965"/>
            <a:ext cx="772477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b="1" dirty="0" err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add_product</a:t>
            </a:r>
            <a:r>
              <a:rPr lang="en-US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():</a:t>
            </a:r>
            <a:r>
              <a:rPr lang="en-US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/>
              <a:t>Updates hash table, category index, search </a:t>
            </a:r>
            <a:r>
              <a:rPr lang="en-US" dirty="0" err="1"/>
              <a:t>trie</a:t>
            </a:r>
            <a:r>
              <a:rPr lang="en-US" dirty="0"/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Google Shape;117;p15">
            <a:extLst>
              <a:ext uri="{FF2B5EF4-FFF2-40B4-BE49-F238E27FC236}">
                <a16:creationId xmlns:a16="http://schemas.microsoft.com/office/drawing/2014/main" id="{CE91FAC7-3EAA-10A9-F61B-E9C10D469906}"/>
              </a:ext>
            </a:extLst>
          </p:cNvPr>
          <p:cNvSpPr txBox="1"/>
          <p:nvPr/>
        </p:nvSpPr>
        <p:spPr>
          <a:xfrm>
            <a:off x="993776" y="2153890"/>
            <a:ext cx="77247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err="1"/>
              <a:t>update_quantity</a:t>
            </a:r>
            <a:r>
              <a:rPr lang="en-US" b="1" dirty="0"/>
              <a:t>():</a:t>
            </a:r>
            <a:r>
              <a:rPr lang="en-US" dirty="0"/>
              <a:t> O(1) stock modifications via SKU lookup</a:t>
            </a:r>
          </a:p>
        </p:txBody>
      </p:sp>
      <p:sp>
        <p:nvSpPr>
          <p:cNvPr id="6" name="Google Shape;118;p15">
            <a:extLst>
              <a:ext uri="{FF2B5EF4-FFF2-40B4-BE49-F238E27FC236}">
                <a16:creationId xmlns:a16="http://schemas.microsoft.com/office/drawing/2014/main" id="{0A840A55-6E2F-DF1A-3C2E-CCD4F5D31B52}"/>
              </a:ext>
            </a:extLst>
          </p:cNvPr>
          <p:cNvSpPr txBox="1"/>
          <p:nvPr/>
        </p:nvSpPr>
        <p:spPr>
          <a:xfrm>
            <a:off x="993776" y="2506315"/>
            <a:ext cx="77247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err="1"/>
              <a:t>get_products_by_category</a:t>
            </a:r>
            <a:r>
              <a:rPr lang="en-US" b="1" dirty="0"/>
              <a:t>():</a:t>
            </a:r>
            <a:r>
              <a:rPr lang="en-US" dirty="0"/>
              <a:t> O(1) + O(k) where k = products in category</a:t>
            </a:r>
          </a:p>
        </p:txBody>
      </p:sp>
      <p:pic>
        <p:nvPicPr>
          <p:cNvPr id="7" name="Google Shape;119;p15" descr="image.png">
            <a:extLst>
              <a:ext uri="{FF2B5EF4-FFF2-40B4-BE49-F238E27FC236}">
                <a16:creationId xmlns:a16="http://schemas.microsoft.com/office/drawing/2014/main" id="{8F930648-9735-B311-7252-7B4F1670D2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025" y="187131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0;p15" descr="image.png">
            <a:extLst>
              <a:ext uri="{FF2B5EF4-FFF2-40B4-BE49-F238E27FC236}">
                <a16:creationId xmlns:a16="http://schemas.microsoft.com/office/drawing/2014/main" id="{DD4B1306-0562-5451-AB67-04CCABFC99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025" y="21856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1;p15" descr="image.png">
            <a:extLst>
              <a:ext uri="{FF2B5EF4-FFF2-40B4-BE49-F238E27FC236}">
                <a16:creationId xmlns:a16="http://schemas.microsoft.com/office/drawing/2014/main" id="{795B1CB5-2124-8B52-1533-2950770CF3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025" y="253806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8;p15">
            <a:extLst>
              <a:ext uri="{FF2B5EF4-FFF2-40B4-BE49-F238E27FC236}">
                <a16:creationId xmlns:a16="http://schemas.microsoft.com/office/drawing/2014/main" id="{5EE11FF5-EB29-3F0D-6F43-0A0679CE5A4B}"/>
              </a:ext>
            </a:extLst>
          </p:cNvPr>
          <p:cNvSpPr txBox="1"/>
          <p:nvPr/>
        </p:nvSpPr>
        <p:spPr>
          <a:xfrm>
            <a:off x="1000126" y="2931765"/>
            <a:ext cx="77247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err="1"/>
              <a:t>get_products_by_name_prefix</a:t>
            </a:r>
            <a:r>
              <a:rPr lang="en-US" b="1" dirty="0"/>
              <a:t>():</a:t>
            </a:r>
            <a:r>
              <a:rPr lang="en-US" dirty="0"/>
              <a:t> O(m) where m = prefix length</a:t>
            </a:r>
          </a:p>
        </p:txBody>
      </p:sp>
      <p:pic>
        <p:nvPicPr>
          <p:cNvPr id="12" name="Google Shape;121;p15" descr="image.png">
            <a:extLst>
              <a:ext uri="{FF2B5EF4-FFF2-40B4-BE49-F238E27FC236}">
                <a16:creationId xmlns:a16="http://schemas.microsoft.com/office/drawing/2014/main" id="{5E3A8546-4E94-BC97-10C9-39B488E3DE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825" y="295081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267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48755"/>
            <a:ext cx="5238750" cy="43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948755"/>
            <a:ext cx="5238750" cy="43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Optimization: The Memory-Latency Trade-off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962025" y="2339280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 A: Node-Stored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62025" y="284976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Strategy: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Every node in the Trie path stores the matching SKUs.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772275" y="2339280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 B: Subtree Collection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772275" y="284976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Strategy: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Only leaf nodes (end-of-word) store SKUs.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1247775" y="3649860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Pros: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Instant retrieval. Zero traversal required after prefix match.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1247775" y="440233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Cons: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Higher memory consumption due to data redundancy.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1247775" y="515481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~0.2ms Latency.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7058025" y="3649860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Pros: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Minimal memory footprint. Efficient storage.</a:t>
            </a:r>
            <a:endParaRPr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7058025" y="4402335"/>
            <a:ext cx="4171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Cons: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Latency is high.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7058025" y="4780160"/>
            <a:ext cx="4171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~88ms Latency.</a:t>
            </a:r>
            <a:endParaRPr dirty="0"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025" y="368796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025" y="444043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025" y="519291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275" y="368796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275" y="444043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275" y="481826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A8AD7CBE-4A08-159F-3F3C-4FA9F3C6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E9478FFA-47E4-98FF-210F-D5558415758A}"/>
              </a:ext>
            </a:extLst>
          </p:cNvPr>
          <p:cNvSpPr txBox="1"/>
          <p:nvPr/>
        </p:nvSpPr>
        <p:spPr>
          <a:xfrm>
            <a:off x="762000" y="762000"/>
            <a:ext cx="48006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Intelligent Caching</a:t>
            </a:r>
            <a:endParaRPr dirty="0"/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7CC6C0DB-3CBD-9F3A-5FB6-32B490E7EBA4}"/>
              </a:ext>
            </a:extLst>
          </p:cNvPr>
          <p:cNvSpPr/>
          <p:nvPr/>
        </p:nvSpPr>
        <p:spPr>
          <a:xfrm>
            <a:off x="762000" y="1468635"/>
            <a:ext cx="4572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6;p15">
            <a:extLst>
              <a:ext uri="{FF2B5EF4-FFF2-40B4-BE49-F238E27FC236}">
                <a16:creationId xmlns:a16="http://schemas.microsoft.com/office/drawing/2014/main" id="{8EB9EC34-88C5-AE3B-D971-38376919794F}"/>
              </a:ext>
            </a:extLst>
          </p:cNvPr>
          <p:cNvSpPr txBox="1"/>
          <p:nvPr/>
        </p:nvSpPr>
        <p:spPr>
          <a:xfrm>
            <a:off x="993776" y="1839565"/>
            <a:ext cx="77247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Prefix Cache Trie:</a:t>
            </a:r>
            <a:r>
              <a:rPr lang="en-US" dirty="0"/>
              <a:t> Maintains warm queries, sub-microsecond hot lookups</a:t>
            </a:r>
          </a:p>
        </p:txBody>
      </p:sp>
      <p:sp>
        <p:nvSpPr>
          <p:cNvPr id="5" name="Google Shape;117;p15">
            <a:extLst>
              <a:ext uri="{FF2B5EF4-FFF2-40B4-BE49-F238E27FC236}">
                <a16:creationId xmlns:a16="http://schemas.microsoft.com/office/drawing/2014/main" id="{48AA8D53-1259-3F92-52D7-851C718DF287}"/>
              </a:ext>
            </a:extLst>
          </p:cNvPr>
          <p:cNvSpPr txBox="1"/>
          <p:nvPr/>
        </p:nvSpPr>
        <p:spPr>
          <a:xfrm>
            <a:off x="993776" y="2191990"/>
            <a:ext cx="77247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Targeted Invalidation:</a:t>
            </a:r>
            <a:r>
              <a:rPr lang="en-US" dirty="0"/>
              <a:t> O(m) instead of O(cache size) on product updates</a:t>
            </a:r>
          </a:p>
        </p:txBody>
      </p:sp>
      <p:sp>
        <p:nvSpPr>
          <p:cNvPr id="6" name="Google Shape;118;p15">
            <a:extLst>
              <a:ext uri="{FF2B5EF4-FFF2-40B4-BE49-F238E27FC236}">
                <a16:creationId xmlns:a16="http://schemas.microsoft.com/office/drawing/2014/main" id="{268AADA8-EAA8-FE6D-796F-EA0D7AA4FDB8}"/>
              </a:ext>
            </a:extLst>
          </p:cNvPr>
          <p:cNvSpPr txBox="1"/>
          <p:nvPr/>
        </p:nvSpPr>
        <p:spPr>
          <a:xfrm>
            <a:off x="993776" y="2550765"/>
            <a:ext cx="77247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Category Cache:</a:t>
            </a:r>
            <a:r>
              <a:rPr lang="en-US" dirty="0"/>
              <a:t> Eliminates redundant filtering across requests</a:t>
            </a:r>
          </a:p>
        </p:txBody>
      </p:sp>
      <p:pic>
        <p:nvPicPr>
          <p:cNvPr id="7" name="Google Shape;119;p15" descr="image.png">
            <a:extLst>
              <a:ext uri="{FF2B5EF4-FFF2-40B4-BE49-F238E27FC236}">
                <a16:creationId xmlns:a16="http://schemas.microsoft.com/office/drawing/2014/main" id="{1617A0FD-DCC9-3EAA-DD7D-9C4D29F0E5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025" y="187131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0;p15" descr="image.png">
            <a:extLst>
              <a:ext uri="{FF2B5EF4-FFF2-40B4-BE49-F238E27FC236}">
                <a16:creationId xmlns:a16="http://schemas.microsoft.com/office/drawing/2014/main" id="{E8EDD30A-9882-0BD3-7BD2-662E54CFA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025" y="22237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1;p15" descr="image.png">
            <a:extLst>
              <a:ext uri="{FF2B5EF4-FFF2-40B4-BE49-F238E27FC236}">
                <a16:creationId xmlns:a16="http://schemas.microsoft.com/office/drawing/2014/main" id="{70ECDDBD-923E-2904-BBF6-73C3FAE0DB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025" y="258251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1724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Performance: Cold Query Latency (N=50k)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4408140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Note: The Node-Stored optimization delivers a </a:t>
            </a:r>
            <a:r>
              <a:rPr lang="en-US" sz="1500" b="1" i="1" u="none" strike="noStrike" cap="none" dirty="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400x improvement</a:t>
            </a:r>
            <a:r>
              <a:rPr lang="en-US" sz="1500" b="0" i="1" u="none" strike="noStrike" cap="none" dirty="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in query speed, making it the only viable option for high-frequency interactive search when memory is not a concern. </a:t>
            </a:r>
            <a:endParaRPr dirty="0"/>
          </a:p>
        </p:txBody>
      </p:sp>
      <p:pic>
        <p:nvPicPr>
          <p:cNvPr id="2" name="Picture" descr="Cold lookup chart">
            <a:extLst>
              <a:ext uri="{FF2B5EF4-FFF2-40B4-BE49-F238E27FC236}">
                <a16:creationId xmlns:a16="http://schemas.microsoft.com/office/drawing/2014/main" id="{A66F3AAF-81F1-D0BB-6335-6409055C967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800100" y="1424880"/>
            <a:ext cx="6649085" cy="284517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Performance Overview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3441352"/>
            <a:ext cx="3683049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0.2ms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489102"/>
            <a:ext cx="3683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AVG QUERY LATENCY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254549" y="3441352"/>
            <a:ext cx="3683049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50k+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254549" y="4489102"/>
            <a:ext cx="3683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ITEMS SUPPORTED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937599" y="3441352"/>
            <a:ext cx="3683049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937599" y="4489102"/>
            <a:ext cx="3683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DATA CONSISTENCY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38162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5">
            <a:alphaModFix amt="5000"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F3F0DF"/>
          </a:solidFill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390525" y="884932"/>
            <a:ext cx="5650706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Optimization</a:t>
            </a:r>
            <a:endParaRPr dirty="0">
              <a:solidFill>
                <a:srgbClr val="005088"/>
              </a:solidFill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390525" y="1766887"/>
            <a:ext cx="565070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Trie-Backed Cache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390525" y="2420242"/>
            <a:ext cx="59848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Standard caching is inefficient because updates often require clearing the entire cache. Our solution uses a Trie-Backed Cache.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676275" y="3715642"/>
            <a:ext cx="56292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Context Aware: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The cache understands the relationship between keys (e.g., "A" -&gt; "Ap" -&gt; "App").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676275" y="4468117"/>
            <a:ext cx="55848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Surgical Precision: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Updating "Apple" only invalidates the specific prefix path.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676275" y="5220592"/>
            <a:ext cx="58134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Impact: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Reduces invalidation complexity from O(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Cache_Size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) to O(m) where m is prefix length.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26" name="Google Shape;22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525" y="381089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525" y="456336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525" y="531584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0;p19">
            <a:extLst>
              <a:ext uri="{FF2B5EF4-FFF2-40B4-BE49-F238E27FC236}">
                <a16:creationId xmlns:a16="http://schemas.microsoft.com/office/drawing/2014/main" id="{8D98168B-09F2-DCCD-A4DE-2590A56A9676}"/>
              </a:ext>
            </a:extLst>
          </p:cNvPr>
          <p:cNvSpPr/>
          <p:nvPr/>
        </p:nvSpPr>
        <p:spPr>
          <a:xfrm>
            <a:off x="360993" y="1565561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Research &amp; Development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549933" y="1497119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Roadmap for Production</a:t>
            </a:r>
            <a:endParaRPr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549933" y="2007599"/>
            <a:ext cx="86732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 transition from prototype to enterprise-grade solution, three key areas have been identified:</a:t>
            </a:r>
            <a:endParaRPr dirty="0"/>
          </a:p>
        </p:txBody>
      </p:sp>
      <p:sp>
        <p:nvSpPr>
          <p:cNvPr id="239" name="Google Shape;239;p23"/>
          <p:cNvSpPr txBox="1"/>
          <p:nvPr/>
        </p:nvSpPr>
        <p:spPr>
          <a:xfrm>
            <a:off x="835683" y="2347112"/>
            <a:ext cx="759034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Bounded Caching: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Implementing LRU (Least Recently Used) eviction policies to ensure memory safety in long-running processes.</a:t>
            </a:r>
            <a:endParaRPr dirty="0"/>
          </a:p>
        </p:txBody>
      </p:sp>
      <p:sp>
        <p:nvSpPr>
          <p:cNvPr id="240" name="Google Shape;240;p23"/>
          <p:cNvSpPr txBox="1"/>
          <p:nvPr/>
        </p:nvSpPr>
        <p:spPr>
          <a:xfrm>
            <a:off x="835682" y="3052174"/>
            <a:ext cx="715007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Persistence: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Integration with SQLite/PostgreSQL for durable storage while maintaining in-memory indexes.</a:t>
            </a:r>
            <a:endParaRPr dirty="0"/>
          </a:p>
        </p:txBody>
      </p:sp>
      <p:sp>
        <p:nvSpPr>
          <p:cNvPr id="241" name="Google Shape;241;p23"/>
          <p:cNvSpPr txBox="1"/>
          <p:nvPr/>
        </p:nvSpPr>
        <p:spPr>
          <a:xfrm>
            <a:off x="835683" y="3804649"/>
            <a:ext cx="715007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Concurrency: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Adding thread-safe locking mechanisms for multi-terminal support.</a:t>
            </a:r>
            <a:endParaRPr dirty="0"/>
          </a:p>
        </p:txBody>
      </p:sp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933" y="247326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933" y="31783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933" y="393079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2190750" y="1719560"/>
            <a:ext cx="78105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rgbClr val="F3F0DF"/>
                </a:solidFill>
                <a:latin typeface="DM Sans" pitchFamily="2" charset="0"/>
                <a:ea typeface="Merriweather"/>
                <a:cs typeface="Merriweather"/>
                <a:sym typeface="Merriweather"/>
              </a:rPr>
              <a:t> The optimized system achieves query latencies of approximately 0.2 milliseconds, validating its suitability for high-frequency, interactive applications."</a:t>
            </a:r>
            <a:endParaRPr sz="2000" dirty="0"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/>
        </p:nvSpPr>
        <p:spPr>
          <a:xfrm>
            <a:off x="4682383" y="2793154"/>
            <a:ext cx="3210401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755</Words>
  <Application>Microsoft Office PowerPoint</Application>
  <PresentationFormat>Widescreen</PresentationFormat>
  <Paragraphs>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Merriweather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Laxmikanth Oruganti</cp:lastModifiedBy>
  <cp:revision>28</cp:revision>
  <dcterms:modified xsi:type="dcterms:W3CDTF">2025-11-30T22:40:12Z</dcterms:modified>
</cp:coreProperties>
</file>